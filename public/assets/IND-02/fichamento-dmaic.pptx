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135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5852160"/>
            <a:ext cx="1645920" cy="1645920"/>
          </a:xfrm>
          <a:prstGeom prst="ellipse">
            <a:avLst/>
          </a:prstGeom>
          <a:solidFill>
            <a:srgbClr val="E5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29184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Sus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432367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CD07"/>
                </a:solidFill>
                <a:latin typeface="Rawline"/>
              </a:rPr>
              <a:t>FICHAMENTO A3 · CICLO DMAIC 01→02→03→04→05↻ · T3 · Interoperabilidade e dados em saúde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Rawline"/>
              </a:rPr>
              <a:t>O tesouro de dados do 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D5DFFF"/>
                </a:solidFill>
                <a:latin typeface="Rawline"/>
              </a:rPr>
              <a:t>Building Health Management Dashboards with DATASUS Public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Rawline"/>
              </a:rPr>
              <a:t>Autores: Luiz Felipe Alves; Ricardo Alexandre da Silva; Diego Zoracky W. Oliveira; Luiz Eduardo de M. Rodrigues; Flávio L. Seixas; Alexandre Beraldi dos Santos — UFF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5DFFF"/>
                </a:solidFill>
                <a:latin typeface="Rawline"/>
              </a:rPr>
              <a:t>IEEE INDUSCON · TED 77/2024 (SEIDIGI/MS × UFF)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Rawline"/>
              </a:rPr>
              <a:t>Coleção de Divulgação Científica · TED 77/2024 — Transformação Digital do 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Rawlin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Rawline"/>
              </a:rPr>
              <a:t>DEFINIR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669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FFA"/>
                </a:solidFill>
                <a:latin typeface="Rawline"/>
              </a:rPr>
              <a:t>Contexto, escopo, objetivo e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Rawline"/>
              </a:rPr>
              <a:t>01/05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Contexto: o SUS atende mais de 75% da população e alimenta o DATASUS — um dos maiores repositórios públicos de dados de saúde do mundo.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Problema: sistemas criados de forma independente (silos), sem identificador único de paciente; análise integrada inviável; TabNet limita-se a tabelas estáticas.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Objetivo: propor abordagem prática e metodológica para integrar e visualizar os dados do DATASUS em painéis de gestão interativos (OLAP + BI).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Equipe: pesquisadores da UFF (Engenharia de Produção e Instituto de Computação), com apoio do TED 77/2024 — SEIDIGI/Ministério da Saúde.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D1E20"/>
                </a:solidFill>
                <a:latin typeface="Rawline"/>
              </a:rPr>
              <a:t>Figura 1. O ecossistema DATASUS</a:t>
            </a:r>
          </a:p>
        </p:txBody>
      </p:sp>
      <p:pic>
        <p:nvPicPr>
          <p:cNvPr id="10" name="Picture 9" descr="ecossistema-data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535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2273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A5E6B"/>
                </a:solidFill>
                <a:latin typeface="Rawline"/>
              </a:rPr>
              <a:t>Fonte: elaboração própria (TED 77/2024).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E6B"/>
                </a:solidFill>
                <a:latin typeface="Rawline"/>
              </a:rPr>
              <a:t>Fichamento DMAIC · IND-02 · TED 77/2024 — UFF · FEC · SEIDIGI/MS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5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Rawline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Rawline"/>
              </a:rPr>
              <a:t>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669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FFA"/>
                </a:solidFill>
                <a:latin typeface="Rawline"/>
              </a:rPr>
              <a:t>Coleta de dados e indicadores do estado prévio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Rawline"/>
              </a:rPr>
              <a:t>02/05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Fontes mapeadas: SIH (internações), SIA (ambulatório), CNES (estabelecimentos), SIM (mortalidade), SINASC (nascidos vivos), SINAN (notificações) + SI-PNI e e-SUS AB.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Estado prévio: formatos DBF/CSV/TXT heterogêneos; sem chaves comuns entre sistemas; consultas via TabNet (tabelas estáticas).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Medição de demonstração (caso aplicado do projeto, SIH-RJ 2025): ver Tabela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D1E20"/>
                </a:solidFill>
                <a:latin typeface="Rawline"/>
              </a:rPr>
              <a:t>Tabela 1. Indicadores do caso aplicado — SIH/SUS · RJ · 2025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45920"/>
          <a:ext cx="53035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Indicador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Valor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Internações (AIHs aprovadas)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926.136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Valores aprovados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R$ 1,71 bilhão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Permanência média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5,3 dias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Mortalidade hospitalar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6,39%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Capítulo CID-10 líder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Gravidez, parto e puerpério (144.260)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44728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A5E6B"/>
                </a:solidFill>
                <a:latin typeface="Rawline"/>
              </a:rPr>
              <a:t>Fonte: base aberta DS-01 do projeto (DATASUS),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E6B"/>
                </a:solidFill>
                <a:latin typeface="Rawline"/>
              </a:rPr>
              <a:t>Fichamento DMAIC · IND-02 · TED 77/2024 — UFF · FEC · SEIDIGI/MS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Rawline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Rawline"/>
              </a:rPr>
              <a:t>ANALISAR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669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FFA"/>
                </a:solidFill>
                <a:latin typeface="Rawline"/>
              </a:rPr>
              <a:t>Metodologia e ferramentas para a causa raiz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Rawline"/>
              </a:rPr>
              <a:t>03/05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Causa raiz: sistemas concebidos para fins administrativos isolados (faturamento, vigilância, cadastro) — interoperabilidade nunca foi requisito de origem.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Consequência: impossibilidade de reconstruir a trajetória do paciente (ex.: ligar atendimento ambulatorial à internação subsequente).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Ferramentas de análise/solução: extração programática (PySUS; pacotes R Datasus/Microdatasus); limpeza e padronização (CID-10, duplicidades, ausentes); vinculação probabilística de registros (Fellegi-Sunter) sobre nome, nascimento e localização — já aplicada a centenas de milhões de registros no Brasil; modelo OMOP como convergência internacional.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D1E20"/>
                </a:solidFill>
                <a:latin typeface="Rawline"/>
              </a:rPr>
              <a:t>Figura 2. Pipeline em quatro estações</a:t>
            </a:r>
          </a:p>
        </p:txBody>
      </p:sp>
      <p:pic>
        <p:nvPicPr>
          <p:cNvPr id="10" name="Picture 9" descr="pipeline-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535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2273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A5E6B"/>
                </a:solidFill>
                <a:latin typeface="Rawline"/>
              </a:rPr>
              <a:t>Fonte: elaboração própria (TED 77/2024).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E6B"/>
                </a:solidFill>
                <a:latin typeface="Rawline"/>
              </a:rPr>
              <a:t>Fichamento DMAIC · IND-02 · TED 77/2024 — UFF · FEC · SEIDIGI/MS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Rawline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Rawline"/>
              </a:rPr>
              <a:t>IMPLEMENTAR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669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FFA"/>
                </a:solidFill>
                <a:latin typeface="Rawline"/>
              </a:rPr>
              <a:t>Ações para eliminar a causa raiz — plano resumido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Rawline"/>
              </a:rPr>
              <a:t>04/05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1E20"/>
                </a:solidFill>
                <a:latin typeface="Rawline"/>
              </a:rPr>
              <a:t>•  Esteira implementada no caso aplicado do projeto (RJ 2025): dados abertos publicados + painel interativo no 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D1E20"/>
                </a:solidFill>
                <a:latin typeface="Rawline"/>
              </a:rPr>
              <a:t>Tabela 2. Plano de ação (o quê · quem · quando · status)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45920"/>
          <a:ext cx="53035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O quê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Quem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Quando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Rawline"/>
                        </a:defRPr>
                      </a:pPr>
                      <a:r>
                        <a:t>Status</a:t>
                      </a:r>
                    </a:p>
                  </a:txBody>
                  <a:tcPr marT="25400" marB="25400">
                    <a:solidFill>
                      <a:srgbClr val="0B3C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Extração SIH-RJ via FTP/PySUS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Equipe de dados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Mês 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Concluído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Limpeza e padronização (CID-10, IBGE)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Equipe de dados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Mês 1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Concluído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Modelagem analítica (3 tabelas-fato)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Equipe de dados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Mês 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Concluído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Publicação da base aberta (datapackage)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Coordenação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Mês 1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Concluído</a:t>
                      </a:r>
                    </a:p>
                  </a:txBody>
                  <a:tcPr marT="25400" marB="25400"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Painel interativo público (BI)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Equipe de dados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Mês 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E20"/>
                          </a:solidFill>
                          <a:latin typeface="Rawline"/>
                        </a:defRPr>
                      </a:pPr>
                      <a:r>
                        <a:t>Concluído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44728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A5E6B"/>
                </a:solidFill>
                <a:latin typeface="Rawline"/>
              </a:rPr>
              <a:t>Fonte: elaboração própria (TED 77/2024),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6576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D1E20"/>
                </a:solidFill>
                <a:latin typeface="Rawline"/>
              </a:rPr>
              <a:t>Figura 3. Painel do projeto (dados reais)</a:t>
            </a:r>
          </a:p>
        </p:txBody>
      </p:sp>
      <p:pic>
        <p:nvPicPr>
          <p:cNvPr id="13" name="Picture 12" descr="painel-proj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77640"/>
            <a:ext cx="4206240" cy="2366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0" y="638937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A5E6B"/>
                </a:solidFill>
                <a:latin typeface="Rawline"/>
              </a:rPr>
              <a:t>Fonte: elaboração própria com dados DATASUS, 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E6B"/>
                </a:solidFill>
                <a:latin typeface="Rawline"/>
              </a:rPr>
              <a:t>Fichamento DMAIC · IND-02 · TED 77/2024 — UFF · FEC · SEIDIGI/MS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Rawline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Rawline"/>
              </a:rPr>
              <a:t>CONTROLAR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669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FFA"/>
                </a:solidFill>
                <a:latin typeface="Rawline"/>
              </a:rPr>
              <a:t>Sustentação dos ganhos e agenda futura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Rawline"/>
              </a:rPr>
              <a:t>05/05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D1E20"/>
                </a:solidFill>
                <a:latin typeface="Rawline"/>
              </a:rPr>
              <a:t>•  Ganho a sustentar: tendências detectadas em minutos, não em dias (síntese da publicação).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D1E20"/>
                </a:solidFill>
                <a:latin typeface="Rawline"/>
              </a:rPr>
              <a:t>•  Controles: atualização mensal das competências; verificação de integridade (totais × fonte oficial); documentação de fonte e competência em todas as visualizações.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D1E20"/>
                </a:solidFill>
                <a:latin typeface="Rawline"/>
              </a:rPr>
              <a:t>•  Agenda futura da publicação: escalabilidade em nuvem e tempo quase real; padronização (ID único, OMOP, HL7 FHIR); interfaces móveis e consultas em linguagem natural; IA preditiva explicável.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D1E20"/>
                </a:solidFill>
                <a:latin typeface="Rawline"/>
              </a:rPr>
              <a:t>•  Referências: artigo IND-02 (IEEE INDUSCON); Ali et al. (2019); Ichihara et al. (2021); Junior et al. (2023); Gazzarata et al. (2024); base aberta DS-01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E6B"/>
                </a:solidFill>
                <a:latin typeface="Rawline"/>
              </a:rPr>
              <a:t>Fichamento DMAIC · IND-02 · TED 77/2024 — UFF · FEC · SEIDIGI/MS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135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5852160"/>
            <a:ext cx="1645920" cy="1645920"/>
          </a:xfrm>
          <a:prstGeom prst="ellipse">
            <a:avLst/>
          </a:prstGeom>
          <a:solidFill>
            <a:srgbClr val="E5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awline"/>
              </a:rPr>
              <a:t>↻ O ciclo recomeça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789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Rawline"/>
              </a:rPr>
              <a:t>O monitoramento contínuo do painel realimenta novas perguntas de gestão — e a metodologia aberta permite que qualquer equipe do SUS replique o percurso. Base de dados, dicionário, código do pipeline e painel interativo estão disponíveis no portal do projeto e em github.com/RaulAraujoSilva/ted77-sih-rj-dados-abertos.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gua-institu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623560"/>
            <a:ext cx="8869680" cy="805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