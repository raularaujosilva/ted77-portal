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155680" y="-822960"/>
            <a:ext cx="2011680" cy="2011680"/>
          </a:xfrm>
          <a:prstGeom prst="ellipse">
            <a:avLst/>
          </a:prstGeom>
          <a:solidFill>
            <a:srgbClr val="1351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430000" y="5852160"/>
            <a:ext cx="1645920" cy="1645920"/>
          </a:xfrm>
          <a:prstGeom prst="ellipse">
            <a:avLst/>
          </a:prstGeom>
          <a:solidFill>
            <a:srgbClr val="E5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731520" y="-731520"/>
            <a:ext cx="1737360" cy="1737360"/>
          </a:xfrm>
          <a:prstGeom prst="ellipse">
            <a:avLst/>
          </a:prstGeom>
          <a:solidFill>
            <a:srgbClr val="1688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329184"/>
            <a:ext cx="201168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ogoSusDigit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57200"/>
            <a:ext cx="1432367" cy="685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73736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i="0">
                <a:solidFill>
                  <a:srgbClr val="FFCD07"/>
                </a:solidFill>
                <a:latin typeface="Rawline"/>
              </a:rPr>
              <a:t>FICHAMENTO A3 · CICLO DMAIC 01→02→03→04→05↻ · T3 · Interoperabilidade e dados em saúde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Rawline"/>
              </a:rPr>
              <a:t>O tesouro de dados do SUS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383280"/>
            <a:ext cx="104241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i="1">
                <a:solidFill>
                  <a:srgbClr val="D5DFFF"/>
                </a:solidFill>
                <a:latin typeface="Rawline"/>
              </a:rPr>
              <a:t>Building Health Management Dashboards with DATASUS Public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206240"/>
            <a:ext cx="106070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Rawline"/>
              </a:rPr>
              <a:t>Autores: Luiz Felipe Alves; Ricardo Alexandre da Silva; Diego Zoracky W. Oliveira; Luiz Eduardo de M. Rodrigues; Flávio L. Seixas; Alexandre Beraldi dos Santos — UFF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93776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>
                <a:solidFill>
                  <a:srgbClr val="D5DFFF"/>
                </a:solidFill>
                <a:latin typeface="Rawline"/>
              </a:rPr>
              <a:t>IEEE INDUSCON · TED 77/2024 (SEIDIGI/MS × UFF)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126480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Rawline"/>
              </a:rPr>
              <a:t>Coleção de Divulgação Científica · TED 77/2024 — Transformação Digital do SUS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3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280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Rawline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0972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Rawline"/>
              </a:rPr>
              <a:t>DEFINIR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566928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E8EFFA"/>
                </a:solidFill>
                <a:latin typeface="Rawline"/>
              </a:rPr>
              <a:t>Contexto, escopo, objetivo e equipe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2743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  <a:latin typeface="Rawline"/>
              </a:rPr>
              <a:t>01/05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5760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>
                <a:solidFill>
                  <a:srgbClr val="1D1E20"/>
                </a:solidFill>
                <a:latin typeface="Rawline"/>
              </a:rPr>
              <a:t>•  Contexto: o SUS atende mais de 75% da população e alimenta o DATASUS — um dos maiores repositórios públicos de dados de saúde do mundo.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1D1E20"/>
                </a:solidFill>
                <a:latin typeface="Rawline"/>
              </a:rPr>
              <a:t>•  Problema: sistemas criados de forma independente (silos), sem identificador único de paciente; análise integrada inviável; TabNet limita-se a tabelas estáticas.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1D1E20"/>
                </a:solidFill>
                <a:latin typeface="Rawline"/>
              </a:rPr>
              <a:t>•  Objetivo: propor abordagem prática e metodológica para integrar e visualizar os dados do DATASUS em painéis de gestão interativos (OLAP + BI).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1D1E20"/>
                </a:solidFill>
                <a:latin typeface="Rawline"/>
              </a:rPr>
              <a:t>•  Equipe: pesquisadores da UFF (Engenharia de Produção e Instituto de Computação), com apoio do TED 77/2024 — SEIDIGI/Ministério da Saúde.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32588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1D1E20"/>
                </a:solidFill>
                <a:latin typeface="Rawline"/>
              </a:rPr>
              <a:t>Figura 1. O ecossistema DATASUS</a:t>
            </a:r>
          </a:p>
        </p:txBody>
      </p:sp>
      <p:pic>
        <p:nvPicPr>
          <p:cNvPr id="10" name="Picture 9" descr="ecossistema-datas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03520" cy="35356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0" y="522732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1">
                <a:solidFill>
                  <a:srgbClr val="5A5E6B"/>
                </a:solidFill>
                <a:latin typeface="Rawline"/>
              </a:rPr>
              <a:t>Fonte: elaboração própria (TED 77/2024).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A5E6B"/>
                </a:solidFill>
                <a:latin typeface="Rawline"/>
              </a:rPr>
              <a:t>Fichamento DMAIC · IND-02 · TED 77/2024 — UFF · FEC · SEIDIGI/MS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351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280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Rawline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0972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Rawline"/>
              </a:rPr>
              <a:t>MEDIR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566928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E8EFFA"/>
                </a:solidFill>
                <a:latin typeface="Rawline"/>
              </a:rPr>
              <a:t>Coleta de dados e indicadores do estado prévio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2743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  <a:latin typeface="Rawline"/>
              </a:rPr>
              <a:t>02/05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5760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>
                <a:solidFill>
                  <a:srgbClr val="1D1E20"/>
                </a:solidFill>
                <a:latin typeface="Rawline"/>
              </a:rPr>
              <a:t>•  Fontes mapeadas: SIH (internações), SIA (ambulatório), CNES (estabelecimentos), SIM (mortalidade), SINASC (nascidos vivos), SINAN (notificações) + SI-PNI e e-SUS AB.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1D1E20"/>
                </a:solidFill>
                <a:latin typeface="Rawline"/>
              </a:rPr>
              <a:t>•  Estado prévio: formatos DBF/CSV/TXT heterogêneos; sem chaves comuns entre sistemas; consultas via TabNet (tabelas estáticas).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1D1E20"/>
                </a:solidFill>
                <a:latin typeface="Rawline"/>
              </a:rPr>
              <a:t>•  Medição de demonstração (caso aplicado do projeto, SIH-RJ 2025): ver Tabela 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32588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1D1E20"/>
                </a:solidFill>
                <a:latin typeface="Rawline"/>
              </a:rPr>
              <a:t>Tabela 1. Indicadores do caso aplicado — SIH/SUS · RJ · 2025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1645920"/>
          <a:ext cx="530352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</a:tblGrid>
              <a:tr h="29260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Rawline"/>
                        </a:defRPr>
                      </a:pPr>
                      <a:r>
                        <a:t>Indicador</a:t>
                      </a:r>
                    </a:p>
                  </a:txBody>
                  <a:tcPr marT="25400" marB="25400">
                    <a:solidFill>
                      <a:srgbClr val="0B3C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Rawline"/>
                        </a:defRPr>
                      </a:pPr>
                      <a:r>
                        <a:t>Valor</a:t>
                      </a:r>
                    </a:p>
                  </a:txBody>
                  <a:tcPr marT="25400" marB="25400">
                    <a:solidFill>
                      <a:srgbClr val="0B3C8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Internações (AIHs aprovadas)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926.136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Valores aprovados</a:t>
                      </a:r>
                    </a:p>
                  </a:txBody>
                  <a:tcPr marT="25400" marB="25400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R$ 1,71 bilhão</a:t>
                      </a:r>
                    </a:p>
                  </a:txBody>
                  <a:tcPr marT="25400" marB="25400"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Permanência média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5,3 dias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Mortalidade hospitalar</a:t>
                      </a:r>
                    </a:p>
                  </a:txBody>
                  <a:tcPr marT="25400" marB="25400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6,39%</a:t>
                      </a:r>
                    </a:p>
                  </a:txBody>
                  <a:tcPr marT="25400" marB="25400"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Capítulo CID-10 líder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Gravidez, parto e puerpério (144.260)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0" y="3447288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1">
                <a:solidFill>
                  <a:srgbClr val="5A5E6B"/>
                </a:solidFill>
                <a:latin typeface="Rawline"/>
              </a:rPr>
              <a:t>Fonte: base aberta DS-01 do projeto (DATASUS), 2026.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A5E6B"/>
                </a:solidFill>
                <a:latin typeface="Rawline"/>
              </a:rPr>
              <a:t>Fichamento DMAIC · IND-02 · TED 77/2024 — UFF · FEC · SEIDIGI/MS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88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280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Rawline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0972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Rawline"/>
              </a:rPr>
              <a:t>ANALISAR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566928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E8EFFA"/>
                </a:solidFill>
                <a:latin typeface="Rawline"/>
              </a:rPr>
              <a:t>Metodologia e ferramentas para a causa raiz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2743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  <a:latin typeface="Rawline"/>
              </a:rPr>
              <a:t>03/05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5760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>
                <a:solidFill>
                  <a:srgbClr val="1D1E20"/>
                </a:solidFill>
                <a:latin typeface="Rawline"/>
              </a:rPr>
              <a:t>•  Causa raiz: sistemas concebidos para fins administrativos isolados (faturamento, vigilância, cadastro) — interoperabilidade nunca foi requisito de origem.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1D1E20"/>
                </a:solidFill>
                <a:latin typeface="Rawline"/>
              </a:rPr>
              <a:t>•  Consequência: impossibilidade de reconstruir a trajetória do paciente (ex.: ligar atendimento ambulatorial à internação subsequente).</a:t>
            </a:r>
          </a:p>
          <a:p>
            <a:pPr>
              <a:spcAft>
                <a:spcPts val="700"/>
              </a:spcAft>
            </a:pPr>
            <a:r>
              <a:rPr sz="1300">
                <a:solidFill>
                  <a:srgbClr val="1D1E20"/>
                </a:solidFill>
                <a:latin typeface="Rawline"/>
              </a:rPr>
              <a:t>•  Ferramentas de análise/solução: extração programática (PySUS; pacotes R Datasus/Microdatasus); limpeza e padronização (CID-10, duplicidades, ausentes); vinculação probabilística de registros (Fellegi-Sunter) sobre nome, nascimento e localização — já aplicada a centenas de milhões de registros no Brasil; modelo OMOP como convergência internacional.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32588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1D1E20"/>
                </a:solidFill>
                <a:latin typeface="Rawline"/>
              </a:rPr>
              <a:t>Figura 2. Pipeline em quatro estações</a:t>
            </a:r>
          </a:p>
        </p:txBody>
      </p:sp>
      <p:pic>
        <p:nvPicPr>
          <p:cNvPr id="10" name="Picture 9" descr="pipeline-da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5303520" cy="35356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0" y="522732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1">
                <a:solidFill>
                  <a:srgbClr val="5A5E6B"/>
                </a:solidFill>
                <a:latin typeface="Rawline"/>
              </a:rPr>
              <a:t>Fonte: elaboração própria (TED 77/2024).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A5E6B"/>
                </a:solidFill>
                <a:latin typeface="Rawline"/>
              </a:rPr>
              <a:t>Fichamento DMAIC · IND-02 · TED 77/2024 — UFF · FEC · SEIDIGI/MS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C845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280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Rawline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0972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Rawline"/>
              </a:rPr>
              <a:t>IMPLEMENTAR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566928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E8EFFA"/>
                </a:solidFill>
                <a:latin typeface="Rawline"/>
              </a:rPr>
              <a:t>Ações para eliminar a causa raiz — plano resumido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2743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  <a:latin typeface="Rawline"/>
              </a:rPr>
              <a:t>04/05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5760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>
                <a:solidFill>
                  <a:srgbClr val="1D1E20"/>
                </a:solidFill>
                <a:latin typeface="Rawline"/>
              </a:rPr>
              <a:t>•  Esteira implementada no caso aplicado do projeto (RJ 2025): dados abertos publicados + painel interativo no 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32588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1D1E20"/>
                </a:solidFill>
                <a:latin typeface="Rawline"/>
              </a:rPr>
              <a:t>Tabela 2. Plano de ação (o quê · quem · quando · status)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1645920"/>
          <a:ext cx="530352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</a:tblGrid>
              <a:tr h="29260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Rawline"/>
                        </a:defRPr>
                      </a:pPr>
                      <a:r>
                        <a:t>O quê</a:t>
                      </a:r>
                    </a:p>
                  </a:txBody>
                  <a:tcPr marT="25400" marB="25400">
                    <a:solidFill>
                      <a:srgbClr val="0B3C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Rawline"/>
                        </a:defRPr>
                      </a:pPr>
                      <a:r>
                        <a:t>Quem</a:t>
                      </a:r>
                    </a:p>
                  </a:txBody>
                  <a:tcPr marT="25400" marB="25400">
                    <a:solidFill>
                      <a:srgbClr val="0B3C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Rawline"/>
                        </a:defRPr>
                      </a:pPr>
                      <a:r>
                        <a:t>Quando</a:t>
                      </a:r>
                    </a:p>
                  </a:txBody>
                  <a:tcPr marT="25400" marB="25400">
                    <a:solidFill>
                      <a:srgbClr val="0B3C8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  <a:latin typeface="Rawline"/>
                        </a:defRPr>
                      </a:pPr>
                      <a:r>
                        <a:t>Status</a:t>
                      </a:r>
                    </a:p>
                  </a:txBody>
                  <a:tcPr marT="25400" marB="25400">
                    <a:solidFill>
                      <a:srgbClr val="0B3C8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Extração SIH-RJ via FTP/PySUS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Equipe de dados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Mês 1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Concluído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Limpeza e padronização (CID-10, IBGE)</a:t>
                      </a:r>
                    </a:p>
                  </a:txBody>
                  <a:tcPr marT="25400" marB="25400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Equipe de dados</a:t>
                      </a:r>
                    </a:p>
                  </a:txBody>
                  <a:tcPr marT="25400" marB="25400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Mês 1</a:t>
                      </a:r>
                    </a:p>
                  </a:txBody>
                  <a:tcPr marT="25400" marB="25400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Concluído</a:t>
                      </a:r>
                    </a:p>
                  </a:txBody>
                  <a:tcPr marT="25400" marB="25400"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Modelagem analítica (3 tabelas-fato)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Equipe de dados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Mês 1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Concluído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Publicação da base aberta (datapackage)</a:t>
                      </a:r>
                    </a:p>
                  </a:txBody>
                  <a:tcPr marT="25400" marB="25400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Coordenação</a:t>
                      </a:r>
                    </a:p>
                  </a:txBody>
                  <a:tcPr marT="25400" marB="25400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Mês 1</a:t>
                      </a:r>
                    </a:p>
                  </a:txBody>
                  <a:tcPr marT="25400" marB="25400">
                    <a:solidFill>
                      <a:srgbClr val="F4F5F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Concluído</a:t>
                      </a:r>
                    </a:p>
                  </a:txBody>
                  <a:tcPr marT="25400" marB="25400">
                    <a:solidFill>
                      <a:srgbClr val="F4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Painel interativo público (BI)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Equipe de dados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Mês 1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1D1E20"/>
                          </a:solidFill>
                          <a:latin typeface="Rawline"/>
                        </a:defRPr>
                      </a:pPr>
                      <a:r>
                        <a:t>Concluído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0" y="3447288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1">
                <a:solidFill>
                  <a:srgbClr val="5A5E6B"/>
                </a:solidFill>
                <a:latin typeface="Rawline"/>
              </a:rPr>
              <a:t>Fonte: elaboração própria (TED 77/2024), 2026.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3657600"/>
            <a:ext cx="4206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1" i="0">
                <a:solidFill>
                  <a:srgbClr val="1D1E20"/>
                </a:solidFill>
                <a:latin typeface="Rawline"/>
              </a:rPr>
              <a:t>Figura 3. Painel do projeto (dados reais)</a:t>
            </a:r>
          </a:p>
        </p:txBody>
      </p:sp>
      <p:pic>
        <p:nvPicPr>
          <p:cNvPr id="13" name="Picture 12" descr="painel-proj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3977640"/>
            <a:ext cx="4206240" cy="236601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949440" y="6389370"/>
            <a:ext cx="4206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1">
                <a:solidFill>
                  <a:srgbClr val="5A5E6B"/>
                </a:solidFill>
                <a:latin typeface="Rawline"/>
              </a:rPr>
              <a:t>Fonte: elaboração própria com dados DATASUS, 2026.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A5E6B"/>
                </a:solidFill>
                <a:latin typeface="Rawline"/>
              </a:rPr>
              <a:t>Fichamento DMAIC · IND-02 · TED 77/2024 — UFF · FEC · SEIDIGI/MS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6B2C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2801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Rawline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09728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Rawline"/>
              </a:rPr>
              <a:t>CONTROLAR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566928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>
                <a:solidFill>
                  <a:srgbClr val="E8EFFA"/>
                </a:solidFill>
                <a:latin typeface="Rawline"/>
              </a:rPr>
              <a:t>Sustentação dos ganhos e agenda futura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274320"/>
            <a:ext cx="1188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  <a:latin typeface="Rawline"/>
              </a:rPr>
              <a:t>05/05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325880"/>
            <a:ext cx="11247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400">
                <a:solidFill>
                  <a:srgbClr val="1D1E20"/>
                </a:solidFill>
                <a:latin typeface="Rawline"/>
              </a:rPr>
              <a:t>•  Ganho a sustentar: tendências detectadas em minutos, não em dias (síntese da publicação).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1D1E20"/>
                </a:solidFill>
                <a:latin typeface="Rawline"/>
              </a:rPr>
              <a:t>•  Controles: atualização mensal das competências; verificação de integridade (totais × fonte oficial); documentação de fonte e competência em todas as visualizações.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1D1E20"/>
                </a:solidFill>
                <a:latin typeface="Rawline"/>
              </a:rPr>
              <a:t>•  Agenda futura da publicação: escalabilidade em nuvem e tempo quase real; padronização (ID único, OMOP, HL7 FHIR); interfaces móveis e consultas em linguagem natural; IA preditiva explicável.</a:t>
            </a:r>
          </a:p>
          <a:p>
            <a:pPr>
              <a:spcAft>
                <a:spcPts val="700"/>
              </a:spcAft>
            </a:pPr>
            <a:r>
              <a:rPr sz="1400">
                <a:solidFill>
                  <a:srgbClr val="1D1E20"/>
                </a:solidFill>
                <a:latin typeface="Rawline"/>
              </a:rPr>
              <a:t>•  Referências: artigo IND-02 (IEEE INDUSCON); Ali et al. (2019); Ichihara et al. (2021); Junior et al. (2023); Gazzarata et al. (2024); base aberta DS-01 (2026).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 i="0">
                <a:solidFill>
                  <a:srgbClr val="5A5E6B"/>
                </a:solidFill>
                <a:latin typeface="Rawline"/>
              </a:rPr>
              <a:t>Fichamento DMAIC · IND-02 · TED 77/2024 — UFF · FEC · SEIDIGI/MS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C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155680" y="-822960"/>
            <a:ext cx="2011680" cy="2011680"/>
          </a:xfrm>
          <a:prstGeom prst="ellipse">
            <a:avLst/>
          </a:prstGeom>
          <a:solidFill>
            <a:srgbClr val="1351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430000" y="5852160"/>
            <a:ext cx="1645920" cy="1645920"/>
          </a:xfrm>
          <a:prstGeom prst="ellipse">
            <a:avLst/>
          </a:prstGeom>
          <a:solidFill>
            <a:srgbClr val="E5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-731520" y="-731520"/>
            <a:ext cx="1737360" cy="1737360"/>
          </a:xfrm>
          <a:prstGeom prst="ellipse">
            <a:avLst/>
          </a:prstGeom>
          <a:solidFill>
            <a:srgbClr val="1688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Rawline"/>
              </a:rPr>
              <a:t>↻ O ciclo recomeça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7899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Rawline"/>
              </a:rPr>
              <a:t>O monitoramento contínuo do painel realimenta novas perguntas de gestão — e a metodologia aberta permite que qualquer equipe do SUS replique o percurso. Base de dados, dicionário, código do pipeline e painel interativo estão disponíveis no portal do projeto: ted77-portal.vercel.app/dados.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gua-instituc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5623560"/>
            <a:ext cx="8869680" cy="80534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